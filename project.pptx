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C447A-A537-4FCC-AE7C-CD4664985B7D}" v="1" dt="2026-02-27T10:23:50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40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N GANESH" userId="433d3fec383b90c8" providerId="LiveId" clId="{F8BC160F-1C4B-4A38-BD45-54B9B0D01921}"/>
    <pc:docChg chg="modSld">
      <pc:chgData name="NITHIN GANESH" userId="433d3fec383b90c8" providerId="LiveId" clId="{F8BC160F-1C4B-4A38-BD45-54B9B0D01921}" dt="2026-02-27T10:23:50.496" v="13"/>
      <pc:docMkLst>
        <pc:docMk/>
      </pc:docMkLst>
      <pc:sldChg chg="modSp mod">
        <pc:chgData name="NITHIN GANESH" userId="433d3fec383b90c8" providerId="LiveId" clId="{F8BC160F-1C4B-4A38-BD45-54B9B0D01921}" dt="2026-02-27T10:23:50.496" v="13"/>
        <pc:sldMkLst>
          <pc:docMk/>
          <pc:sldMk cId="0" sldId="258"/>
        </pc:sldMkLst>
        <pc:spChg chg="mod">
          <ac:chgData name="NITHIN GANESH" userId="433d3fec383b90c8" providerId="LiveId" clId="{F8BC160F-1C4B-4A38-BD45-54B9B0D01921}" dt="2026-02-27T10:23:50.496" v="13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five-hour-build.preview.emergentagent.com/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49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34640" y="1283459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662500" y="4320988"/>
            <a:ext cx="3596800" cy="822512"/>
            <a:chOff x="0" y="0"/>
            <a:chExt cx="20726400" cy="47396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26400" cy="4739686"/>
            </a:xfrm>
            <a:custGeom>
              <a:avLst/>
              <a:gdLst/>
              <a:ahLst/>
              <a:cxnLst/>
              <a:rect l="l" t="t" r="r" b="b"/>
              <a:pathLst>
                <a:path w="20726400" h="4739686">
                  <a:moveTo>
                    <a:pt x="0" y="0"/>
                  </a:moveTo>
                  <a:lnTo>
                    <a:pt x="20726400" y="0"/>
                  </a:lnTo>
                  <a:lnTo>
                    <a:pt x="20726400" y="4739686"/>
                  </a:lnTo>
                  <a:lnTo>
                    <a:pt x="0" y="47396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397" b="-2901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726400" cy="4758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8369" y="2722245"/>
            <a:ext cx="16991708" cy="4240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endParaRPr dirty="0"/>
          </a:p>
          <a:p>
            <a:pPr marL="651053" lvl="1" indent="-325526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 AI-Based Holistic Skill Development Platform </a:t>
            </a:r>
          </a:p>
          <a:p>
            <a:pPr marL="651053" lvl="1" indent="-325526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No-  01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 Team Falcon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07923" y="613949"/>
            <a:ext cx="11368782" cy="1491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97"/>
              </a:lnSpc>
            </a:pPr>
            <a:r>
              <a:rPr lang="en-US" sz="10452">
                <a:solidFill>
                  <a:srgbClr val="FF2720"/>
                </a:solidFill>
                <a:latin typeface="Mokoto Glitch 2"/>
                <a:ea typeface="Mokoto Glitch 2"/>
                <a:cs typeface="Mokoto Glitch 2"/>
                <a:sym typeface="Mokoto Glitch 2"/>
              </a:rPr>
              <a:t>VIBETHON</a:t>
            </a:r>
          </a:p>
        </p:txBody>
      </p:sp>
      <p:sp>
        <p:nvSpPr>
          <p:cNvPr id="9" name="Freeform 9"/>
          <p:cNvSpPr/>
          <p:nvPr/>
        </p:nvSpPr>
        <p:spPr>
          <a:xfrm>
            <a:off x="135310" y="-207200"/>
            <a:ext cx="4411383" cy="2029236"/>
          </a:xfrm>
          <a:custGeom>
            <a:avLst/>
            <a:gdLst/>
            <a:ahLst/>
            <a:cxnLst/>
            <a:rect l="l" t="t" r="r" b="b"/>
            <a:pathLst>
              <a:path w="4411383" h="2029236">
                <a:moveTo>
                  <a:pt x="0" y="0"/>
                </a:moveTo>
                <a:lnTo>
                  <a:pt x="4411383" y="0"/>
                </a:lnTo>
                <a:lnTo>
                  <a:pt x="4411383" y="2029236"/>
                </a:lnTo>
                <a:lnTo>
                  <a:pt x="0" y="202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40971" y="7187998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7"/>
                </a:lnTo>
                <a:lnTo>
                  <a:pt x="0" y="3749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81281" y="0"/>
            <a:ext cx="5776697" cy="1955890"/>
          </a:xfrm>
          <a:custGeom>
            <a:avLst/>
            <a:gdLst/>
            <a:ahLst/>
            <a:cxnLst/>
            <a:rect l="l" t="t" r="r" b="b"/>
            <a:pathLst>
              <a:path w="5776697" h="1955890">
                <a:moveTo>
                  <a:pt x="0" y="0"/>
                </a:moveTo>
                <a:lnTo>
                  <a:pt x="5776697" y="0"/>
                </a:lnTo>
                <a:lnTo>
                  <a:pt x="5776697" y="1955890"/>
                </a:lnTo>
                <a:lnTo>
                  <a:pt x="0" y="1955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461046" y="-93334"/>
            <a:ext cx="11778954" cy="1901168"/>
            <a:chOff x="0" y="0"/>
            <a:chExt cx="15705271" cy="2534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705271" cy="2534890"/>
            </a:xfrm>
            <a:custGeom>
              <a:avLst/>
              <a:gdLst/>
              <a:ahLst/>
              <a:cxnLst/>
              <a:rect l="l" t="t" r="r" b="b"/>
              <a:pathLst>
                <a:path w="15705271" h="2534890">
                  <a:moveTo>
                    <a:pt x="0" y="0"/>
                  </a:moveTo>
                  <a:lnTo>
                    <a:pt x="15705271" y="0"/>
                  </a:lnTo>
                  <a:lnTo>
                    <a:pt x="15705271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782" b="-259782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705271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390" y="3124048"/>
            <a:ext cx="18105120" cy="771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680" lvl="1" indent="-434340" algn="l">
              <a:lnSpc>
                <a:spcPts val="5759"/>
              </a:lnSpc>
              <a:buFont typeface="Arial"/>
              <a:buChar char="•"/>
            </a:pPr>
            <a:r>
              <a:rPr lang="en-US" sz="4800" b="1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marL="1065847" lvl="1" indent="-685800" algn="l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4800" b="1" dirty="0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951547" lvl="1" indent="-5715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4400" b="1" dirty="0"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00" b="1" dirty="0">
                <a:latin typeface="Arial Bold"/>
                <a:ea typeface="Arial Bold"/>
                <a:cs typeface="Arial Bold"/>
                <a:sym typeface="Arial Bold"/>
              </a:rPr>
              <a:t>The platform uses AI-driven assessments in coding, aptitude, and communication to identify a student’s exact strengths and weaknesses. It then delivers personalized training paths.</a:t>
            </a:r>
          </a:p>
          <a:p>
            <a:pPr marL="951547" lvl="1" indent="-5715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Arial Bold"/>
              <a:ea typeface="Arial Bold"/>
              <a:cs typeface="Arial Bold"/>
              <a:sym typeface="Arial Bold"/>
            </a:endParaRPr>
          </a:p>
          <a:p>
            <a:pPr marL="837247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 Bold"/>
                <a:ea typeface="Arial Bold"/>
                <a:cs typeface="Arial Bold"/>
                <a:sym typeface="Arial Bold"/>
              </a:rPr>
              <a:t>It solves the issue of generic learning by offering adaptive, real-time skill improvement based on each user’s performance</a:t>
            </a:r>
          </a:p>
          <a:p>
            <a:pPr marL="837247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Arial Bold"/>
              <a:ea typeface="Arial Bold"/>
              <a:cs typeface="Arial Bold"/>
              <a:sym typeface="Arial Bold"/>
            </a:endParaRPr>
          </a:p>
          <a:p>
            <a:pPr marL="837247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 Bold"/>
                <a:ea typeface="Arial Bold"/>
                <a:cs typeface="Arial Bold"/>
                <a:sym typeface="Arial Bold"/>
              </a:rPr>
              <a:t>The platform unifies three major skill domains—coding, aptitude, communication—into one AI system with dynamic feedback loops.</a:t>
            </a:r>
          </a:p>
          <a:p>
            <a:pPr marL="951547" lvl="1" indent="-5715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2800" b="1" u="sng" dirty="0">
              <a:latin typeface="Arial Bold"/>
              <a:ea typeface="Arial Bold"/>
              <a:cs typeface="Arial Bold"/>
              <a:sym typeface="Arial Bold"/>
            </a:endParaRPr>
          </a:p>
          <a:p>
            <a:pPr marL="951547" lvl="1" indent="-5715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2800" b="1" u="sng" dirty="0"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2390" y="-846054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5840" y="3827145"/>
            <a:ext cx="13895070" cy="6412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html,css,python,java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script,MangoDB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SkillSphere</a:t>
            </a: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AI-based holistic skill development platform that evaluates coding, aptitude, and communication skills in one system.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 machine learning to predict a student’s placement readiness level.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platform provides personalized feedback based on performance scores.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2390" y="-846054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9322" y="0"/>
            <a:ext cx="16459200" cy="1901168"/>
            <a:chOff x="0" y="0"/>
            <a:chExt cx="21945600" cy="2534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2534890"/>
            </a:xfrm>
            <a:custGeom>
              <a:avLst/>
              <a:gdLst/>
              <a:ahLst/>
              <a:cxnLst/>
              <a:rect l="l" t="t" r="r" b="b"/>
              <a:pathLst>
                <a:path w="21945600" h="253489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3599" b="-11378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VIABILITY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5840" y="3827145"/>
            <a:ext cx="13895070" cy="505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idea is feasible because AI-based assessments for aptitude, coding, and communication can be built using existing APIs, models, and automation frameworks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may face challenges such as high computational cost for AI evaluations, integration complexity across modules, and ensuring data privacy for users.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system may face challenges such as high computational cost for AI evaluations, integration complexity across modules, and ensuring data privacy for users.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2390" y="-846054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5840" y="3827145"/>
            <a:ext cx="13895070" cy="570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platform empowers students and job seekers by improving their aptitude, coding, and communication skills through personalized AI-driven learning. It helps users become more confident, job-ready, and able to track their progress with real-time insights.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Socially, it enhances digital literacy and equal access to skill development; economically, it increases employability and reduces training costs for institutions. Environmentally, shifting learning to digital platforms minimizes paper usage and physical resource consumption.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2390" y="-846054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IN" dirty="0"/>
              <a:t>YU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</a:t>
            </a:r>
            <a:r>
              <a:rPr lang="en-IN" sz="4400" dirty="0"/>
              <a:t>1.Requirement Analysis</a:t>
            </a:r>
            <a:endParaRPr lang="en-IN" dirty="0"/>
          </a:p>
          <a:p>
            <a:r>
              <a:rPr lang="en-IN" sz="3600" dirty="0"/>
              <a:t>                                          </a:t>
            </a:r>
            <a:r>
              <a:rPr lang="en-IN" sz="4800" dirty="0"/>
              <a:t>2. System Architecture </a:t>
            </a:r>
            <a:r>
              <a:rPr lang="en-IN" sz="4800" dirty="0" err="1"/>
              <a:t>Desigin</a:t>
            </a:r>
            <a:endParaRPr lang="en-IN" sz="4800" dirty="0"/>
          </a:p>
          <a:p>
            <a:r>
              <a:rPr lang="en-IN" sz="4800" dirty="0"/>
              <a:t>                                3. Frontend Development</a:t>
            </a:r>
          </a:p>
          <a:p>
            <a:r>
              <a:rPr lang="en-IN" sz="4800" dirty="0"/>
              <a:t>                                4. Backend Development</a:t>
            </a:r>
          </a:p>
          <a:p>
            <a:r>
              <a:rPr lang="en-IN" sz="4800" dirty="0"/>
              <a:t>                                5. AI Integration</a:t>
            </a:r>
          </a:p>
          <a:p>
            <a:r>
              <a:rPr lang="en-IN" sz="4800" dirty="0"/>
              <a:t>                                6. Test Engine Development  </a:t>
            </a:r>
          </a:p>
          <a:p>
            <a:r>
              <a:rPr lang="en-IN" sz="4800" dirty="0"/>
              <a:t>                                7.User Authentication &amp; Security</a:t>
            </a:r>
          </a:p>
          <a:p>
            <a:r>
              <a:rPr lang="en-IN" sz="4800" dirty="0"/>
              <a:t>                                8.Performance Tracking dashboard</a:t>
            </a:r>
          </a:p>
          <a:p>
            <a:r>
              <a:rPr lang="en-IN" sz="4800" dirty="0"/>
              <a:t>                                9.Integration &amp; Testing</a:t>
            </a:r>
          </a:p>
          <a:p>
            <a:r>
              <a:rPr lang="en-IN" sz="4800" dirty="0"/>
              <a:t>                                10.deployment.</a:t>
            </a:r>
          </a:p>
          <a:p>
            <a:endParaRPr lang="en-IN" sz="4800" dirty="0"/>
          </a:p>
          <a:p>
            <a:endParaRPr lang="en-IN" sz="4800" dirty="0"/>
          </a:p>
          <a:p>
            <a:endParaRPr lang="en-IN" sz="4800" dirty="0"/>
          </a:p>
          <a:p>
            <a:r>
              <a:rPr lang="en-IN" sz="4800" dirty="0"/>
              <a:t>                                           </a:t>
            </a:r>
          </a:p>
        </p:txBody>
      </p:sp>
      <p:sp>
        <p:nvSpPr>
          <p:cNvPr id="3" name="Freeform 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846053"/>
            <a:ext cx="3819832" cy="3441770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DEVELOPEMENT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7200" dirty="0"/>
              <a:t>                 </a:t>
            </a:r>
            <a:r>
              <a:rPr lang="en-IN" sz="7200" dirty="0">
                <a:latin typeface="Lucida Bright" panose="02040602050505020304" pitchFamily="18" charset="0"/>
              </a:rPr>
              <a:t>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Lucida Bright" panose="02040602050505020304" pitchFamily="18" charset="0"/>
              </a:rPr>
              <a:t>Conduct functional testing to ensure each module (aptitude, coding, communication) works correctly.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Lucida Bright" panose="02040602050505020304" pitchFamily="18" charset="0"/>
              </a:rPr>
              <a:t>Perform integration testing to check smooth connection between frontend, backend, and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Lucida Bright" panose="02040602050505020304" pitchFamily="18" charset="0"/>
              </a:rPr>
              <a:t>Run usability testing with a small group to confirm UI clarity and ease of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r>
              <a:rPr lang="en-US" sz="2400" dirty="0">
                <a:latin typeface="Lucida Bright" panose="02040602050505020304" pitchFamily="18" charset="0"/>
              </a:rPr>
              <a:t>                                       </a:t>
            </a:r>
            <a:r>
              <a:rPr lang="en-US" sz="7200" dirty="0" err="1">
                <a:latin typeface="Lucida Bright" panose="02040602050505020304" pitchFamily="18" charset="0"/>
              </a:rPr>
              <a:t>PiloT</a:t>
            </a:r>
            <a:endParaRPr lang="en-US" sz="72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Lucida Bright" panose="02040602050505020304" pitchFamily="18" charset="0"/>
              </a:rPr>
              <a:t>Launch a limited pilot with selected students or a small target user group.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Lucida Bright" panose="02040602050505020304" pitchFamily="18" charset="0"/>
              </a:rPr>
              <a:t>Collect user feedback on functionality, interface, difficulty levels, and AI feedback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Lucida Bright" panose="02040602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Lucida Bright" panose="02040602050505020304" pitchFamily="18" charset="0"/>
              </a:rPr>
              <a:t>Monitor backend analytics for usage patterns, errors, and performance issues.</a:t>
            </a:r>
            <a:endParaRPr lang="en-IN" sz="2400" dirty="0">
              <a:latin typeface="Lucida Bright" panose="02040602050505020304" pitchFamily="18" charset="0"/>
            </a:endParaRPr>
          </a:p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6477" y="-901062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7"/>
                </a:lnTo>
                <a:lnTo>
                  <a:pt x="0" y="3749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Testing &amp; PiloT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 Prepare Production Environment</a:t>
            </a:r>
          </a:p>
          <a:p>
            <a:r>
              <a:rPr lang="en-IN" sz="2400" dirty="0"/>
              <a:t>       Set up secure hosting for backend (Render/Heroku/AWS) and frontend (Netlify/</a:t>
            </a:r>
            <a:r>
              <a:rPr lang="en-IN" sz="2400" dirty="0" err="1"/>
              <a:t>Vercel</a:t>
            </a:r>
            <a:r>
              <a:rPr lang="en-IN" sz="24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Configure Environment Variables</a:t>
            </a:r>
          </a:p>
          <a:p>
            <a:r>
              <a:rPr lang="en-IN" sz="2400" dirty="0"/>
              <a:t>      Add secure .env values for database, JWT keys, and API endpoints.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Build &amp; Optimize Code</a:t>
            </a:r>
          </a:p>
          <a:p>
            <a:r>
              <a:rPr lang="en-IN" sz="2400" dirty="0"/>
              <a:t>     Minify frontend files and ensure backend is production-ready with proper settings.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Database Deployment</a:t>
            </a:r>
          </a:p>
          <a:p>
            <a:r>
              <a:rPr lang="en-IN" sz="2400" dirty="0"/>
              <a:t>      Host MongoDB/SQL on a cloud service and connect it with live backend APIs.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API Deployment</a:t>
            </a:r>
          </a:p>
          <a:p>
            <a:r>
              <a:rPr lang="en-IN" sz="2400" dirty="0"/>
              <a:t>     Deploy Flask backend, enable HTTPS, configure CORS, and verify endpoint responses.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Frontend Deployment</a:t>
            </a:r>
          </a:p>
          <a:p>
            <a:r>
              <a:rPr lang="en-IN" sz="2400" dirty="0"/>
              <a:t>     Upload static site or frontend code and link it to backend endpoints.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Integration Testing</a:t>
            </a:r>
          </a:p>
          <a:p>
            <a:r>
              <a:rPr lang="en-IN" sz="2400" dirty="0"/>
              <a:t>     Test complete workflow (login → test → evaluation → dashboard) in live environment..</a:t>
            </a:r>
          </a:p>
        </p:txBody>
      </p:sp>
      <p:sp>
        <p:nvSpPr>
          <p:cNvPr id="3" name="Freeform 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901062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Deployment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4000" dirty="0"/>
          </a:p>
          <a:p>
            <a:endParaRPr lang="en-IN" sz="4000" dirty="0"/>
          </a:p>
          <a:p>
            <a:endParaRPr lang="en-IN" sz="4000" dirty="0"/>
          </a:p>
          <a:p>
            <a:endParaRPr lang="en-IN" sz="4000" dirty="0"/>
          </a:p>
          <a:p>
            <a:endParaRPr lang="en-IN" sz="4000" dirty="0"/>
          </a:p>
          <a:p>
            <a:endParaRPr lang="en-IN" sz="4000" dirty="0"/>
          </a:p>
          <a:p>
            <a:r>
              <a:rPr lang="en-IN" sz="4000" dirty="0"/>
              <a:t>                       </a:t>
            </a:r>
            <a:r>
              <a:rPr lang="en-IN" sz="6000" dirty="0"/>
              <a:t>1️⃣ Multi-Dimensional Skill Evaluation</a:t>
            </a:r>
          </a:p>
          <a:p>
            <a:r>
              <a:rPr lang="en-IN" sz="6000" dirty="0"/>
              <a:t>               2️⃣ AI-Based Placement Readiness Prediction</a:t>
            </a:r>
          </a:p>
          <a:p>
            <a:r>
              <a:rPr lang="en-IN" sz="6000" dirty="0"/>
              <a:t>               3️⃣ Personalized Performance Analytics</a:t>
            </a:r>
          </a:p>
          <a:p>
            <a:r>
              <a:rPr lang="en-IN" sz="6000" dirty="0"/>
              <a:t>               4️⃣ Data-Driven Decision Making</a:t>
            </a:r>
          </a:p>
          <a:p>
            <a:r>
              <a:rPr lang="en-IN" sz="6000" dirty="0"/>
              <a:t>               5️⃣ Integrated Skill Development Ecosystem</a:t>
            </a:r>
          </a:p>
        </p:txBody>
      </p:sp>
      <p:sp>
        <p:nvSpPr>
          <p:cNvPr id="3" name="Freeform 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846054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ANALYSIS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2626" y="0"/>
            <a:ext cx="16459200" cy="1901168"/>
            <a:chOff x="0" y="0"/>
            <a:chExt cx="21945600" cy="2534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2534890"/>
            </a:xfrm>
            <a:custGeom>
              <a:avLst/>
              <a:gdLst/>
              <a:ahLst/>
              <a:cxnLst/>
              <a:rect l="l" t="t" r="r" b="b"/>
              <a:pathLst>
                <a:path w="21945600" h="253489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3599" b="-11378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97280" y="2747222"/>
            <a:ext cx="13895070" cy="698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7" lvl="1" algn="just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https://five-hour-build.preview.emergentagent.com/</a:t>
            </a:r>
            <a:endParaRPr 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0047" lvl="1" algn="just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https://scikit-learn.org/stable/tutorial/basic/tutorial.html</a:t>
            </a:r>
          </a:p>
          <a:p>
            <a:pPr marL="380047" lvl="1" algn="just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Review: Architecting an AI-Driven Decision Support System for Enhanced Online Learning and Assessment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K. L. Mhatre et al., “Online Skill Assessment Using AI,” IJRASET, 2026. 15  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S. Mahamad et al., “Technical Review: Architecting an AI-Driven Decision Support System for Enhanced Online Learning and Assessment,” Future Internet, 2025. 16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868018" y="0"/>
            <a:ext cx="5751578" cy="1947385"/>
          </a:xfrm>
          <a:custGeom>
            <a:avLst/>
            <a:gdLst/>
            <a:ahLst/>
            <a:cxnLst/>
            <a:rect l="l" t="t" r="r" b="b"/>
            <a:pathLst>
              <a:path w="5751578" h="1947385">
                <a:moveTo>
                  <a:pt x="0" y="0"/>
                </a:moveTo>
                <a:lnTo>
                  <a:pt x="5751578" y="0"/>
                </a:lnTo>
                <a:lnTo>
                  <a:pt x="5751578" y="1947385"/>
                </a:lnTo>
                <a:lnTo>
                  <a:pt x="0" y="1947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-846054"/>
            <a:ext cx="3749507" cy="3749507"/>
          </a:xfrm>
          <a:custGeom>
            <a:avLst/>
            <a:gdLst/>
            <a:ahLst/>
            <a:cxnLst/>
            <a:rect l="l" t="t" r="r" b="b"/>
            <a:pathLst>
              <a:path w="3749507" h="3749507">
                <a:moveTo>
                  <a:pt x="0" y="0"/>
                </a:moveTo>
                <a:lnTo>
                  <a:pt x="3749507" y="0"/>
                </a:lnTo>
                <a:lnTo>
                  <a:pt x="3749507" y="3749508"/>
                </a:lnTo>
                <a:lnTo>
                  <a:pt x="0" y="37495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811</Words>
  <Application>Microsoft Office PowerPoint</Application>
  <PresentationFormat>Custom</PresentationFormat>
  <Paragraphs>155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Bold</vt:lpstr>
      <vt:lpstr>Calibri</vt:lpstr>
      <vt:lpstr>Lucida Bright</vt:lpstr>
      <vt:lpstr>Mokoto Glitch 2</vt:lpstr>
      <vt:lpstr>Times New Roman Bold</vt:lpstr>
      <vt:lpstr>Trade Gothic Condensed</vt:lpstr>
      <vt:lpstr>Trade Gothic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NITHIN GANESH</cp:lastModifiedBy>
  <cp:revision>2</cp:revision>
  <dcterms:modified xsi:type="dcterms:W3CDTF">2026-02-27T10:24:04Z</dcterms:modified>
</cp:coreProperties>
</file>